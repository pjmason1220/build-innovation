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477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323" y="702171"/>
            <a:ext cx="7541353" cy="226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8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Innovation</a:t>
            </a:r>
            <a:endParaRPr lang="en-US" sz="5400" b="1" dirty="0"/>
          </a:p>
          <a:p>
            <a:pPr marL="0" indent="0" algn="ctr">
              <a:spcAft>
                <a:spcPts val="1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That Drive</a:t>
            </a:r>
            <a:endParaRPr lang="en-US" sz="3600" dirty="0"/>
          </a:p>
          <a:p>
            <a:pPr marL="0" indent="0" algn="ctr">
              <a:spcAft>
                <a:spcPts val="1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 Growth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1323" y="3193554"/>
            <a:ext cx="75413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PJ Mason | Innovation Consulting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00500" y="3803154"/>
            <a:ext cx="1143000" cy="28575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1323" y="4136529"/>
            <a:ext cx="7541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P&amp;G Senior Director • 20+ Years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871538"/>
            <a:ext cx="4478845" cy="3810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0" y="1047750"/>
            <a:ext cx="114300" cy="361950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728788"/>
            <a:ext cx="8433054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companies know innovation is critical.</a:t>
            </a:r>
            <a:endParaRPr lang="en-US" sz="225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building world-class capabilities from scratch?</a:t>
            </a:r>
            <a:endParaRPr lang="en-US" sz="225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different challenge entirely.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95300" y="3224213"/>
            <a:ext cx="8267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5300" y="3224213"/>
            <a:ext cx="8433054" cy="285750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•Most consultants only advise — they don't build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5300" y="3700463"/>
            <a:ext cx="8433054" cy="285750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•Agencies are expensive and don't transfer knowledge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5300" y="4176712"/>
            <a:ext cx="8433054" cy="285750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•You need someone who's actually done it before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447675"/>
            <a:ext cx="4478845" cy="3810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Track Record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0" y="1047750"/>
            <a:ext cx="114300" cy="361950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266825"/>
            <a:ext cx="4019550" cy="1695450"/>
          </a:xfrm>
          <a:prstGeom prst="roundRect">
            <a:avLst>
              <a:gd name="adj" fmla="val 449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900" y="1533525"/>
            <a:ext cx="36335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4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23900" y="2200275"/>
            <a:ext cx="36335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Impact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3900" y="2505075"/>
            <a:ext cx="36335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led at P&amp;G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43450" y="1266825"/>
            <a:ext cx="4019550" cy="1695450"/>
          </a:xfrm>
          <a:prstGeom prst="roundRect">
            <a:avLst>
              <a:gd name="adj" fmla="val 449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72050" y="1533525"/>
            <a:ext cx="36335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4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Years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4972050" y="2200275"/>
            <a:ext cx="36335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P&amp;G Senior Director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72050" y="2505075"/>
            <a:ext cx="36335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Care &amp; Smart Products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5300" y="3190875"/>
            <a:ext cx="4019550" cy="1695450"/>
          </a:xfrm>
          <a:prstGeom prst="roundRect">
            <a:avLst>
              <a:gd name="adj" fmla="val 449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3900" y="3457575"/>
            <a:ext cx="36335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4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723900" y="4124325"/>
            <a:ext cx="36335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Teams Led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23900" y="4429125"/>
            <a:ext cx="36335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3 continents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43450" y="3190875"/>
            <a:ext cx="4019550" cy="1695450"/>
          </a:xfrm>
          <a:prstGeom prst="roundRect">
            <a:avLst>
              <a:gd name="adj" fmla="val 449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2050" y="3457575"/>
            <a:ext cx="36335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4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4972050" y="4124325"/>
            <a:ext cx="36335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Awards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72050" y="4429125"/>
            <a:ext cx="36335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Design, iF, Red Dot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614363"/>
            <a:ext cx="4478845" cy="3810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I've Actually Built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0" y="1047750"/>
            <a:ext cx="114300" cy="361950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338263"/>
            <a:ext cx="8267700" cy="1362075"/>
          </a:xfrm>
          <a:prstGeom prst="roundRect">
            <a:avLst>
              <a:gd name="adj" fmla="val 5594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43063"/>
            <a:ext cx="788898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P&amp;G's First Digital Design Capability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62000" y="2128838"/>
            <a:ext cx="788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external dependencies to fully internalized world-class team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5300" y="2967038"/>
            <a:ext cx="27072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Building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5300" y="3309938"/>
            <a:ext cx="27072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Recruited, developed, and retained top design talent across regions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01901" y="2967038"/>
            <a:ext cx="27074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Design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01901" y="3309938"/>
            <a:ext cx="2707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design thinking methodology and portfolio management systems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08650" y="2967038"/>
            <a:ext cx="27072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Delivery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08650" y="3309938"/>
            <a:ext cx="27072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award-winning platforms generating hundreds of millions in growth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5300" y="3995738"/>
            <a:ext cx="8267700" cy="723900"/>
          </a:xfrm>
          <a:prstGeom prst="roundRect">
            <a:avLst>
              <a:gd name="adj" fmla="val 789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14350" y="3995738"/>
            <a:ext cx="0" cy="7239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3900" y="4224338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 help mid-market companies ($100M-$1B) build the same capabilities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43049"/>
            <a:ext cx="4478845" cy="3810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Can Help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0" y="1047750"/>
            <a:ext cx="114300" cy="361950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105049"/>
            <a:ext cx="4038600" cy="2106662"/>
          </a:xfrm>
          <a:prstGeom prst="roundRect">
            <a:avLst>
              <a:gd name="adj" fmla="val 36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333649"/>
            <a:ext cx="373075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Capability Assessment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038499"/>
            <a:ext cx="3730752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audit of current processes, portfolio, and team structure with benchmarked recommendations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792611"/>
            <a:ext cx="37307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weeks • $25-40K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24400" y="1105049"/>
            <a:ext cx="4038600" cy="2106662"/>
          </a:xfrm>
          <a:prstGeom prst="roundRect">
            <a:avLst>
              <a:gd name="adj" fmla="val 36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4900" y="1333649"/>
            <a:ext cx="37307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Capability Build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14900" y="1733699"/>
            <a:ext cx="37307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functioning design capability from scratch — team structure, processes, recruiting, pilot projects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4900" y="2274540"/>
            <a:ext cx="37307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months • $150-300K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5300" y="3402211"/>
            <a:ext cx="4038600" cy="1588591"/>
          </a:xfrm>
          <a:prstGeom prst="roundRect">
            <a:avLst>
              <a:gd name="adj" fmla="val 479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3630811"/>
            <a:ext cx="37307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Platform Development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4030861"/>
            <a:ext cx="37307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multi-functional teams to develop new product platforms from vision to market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571702"/>
            <a:ext cx="37307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months • $300-500K+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4400" y="3402211"/>
            <a:ext cx="4038600" cy="1588591"/>
          </a:xfrm>
          <a:prstGeom prst="roundRect">
            <a:avLst>
              <a:gd name="adj" fmla="val 4797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900" y="3630811"/>
            <a:ext cx="37307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Chief Design Officer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14900" y="4030861"/>
            <a:ext cx="37307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design leadership on retainer — portfolio reviews, team mentoring, key initiatives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4900" y="4571702"/>
            <a:ext cx="37307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• $10-20K/month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419100"/>
            <a:ext cx="4478845" cy="3810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Results at P&amp;G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0" y="1047750"/>
            <a:ext cx="114300" cy="361950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295400"/>
            <a:ext cx="2603450" cy="1981200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3575" y="1638300"/>
            <a:ext cx="22668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5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63575" y="2438400"/>
            <a:ext cx="2266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3575" y="2743200"/>
            <a:ext cx="22668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Year-on-Year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27350" y="1295400"/>
            <a:ext cx="2603450" cy="1981200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95626" y="1638300"/>
            <a:ext cx="22668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5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495626" y="2438400"/>
            <a:ext cx="2266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95626" y="2743200"/>
            <a:ext cx="22668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Time-to-Market Reduction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59401" y="1295400"/>
            <a:ext cx="2603599" cy="1981200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27675" y="1638300"/>
            <a:ext cx="22670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5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327675" y="2438400"/>
            <a:ext cx="22670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27675" y="2743200"/>
            <a:ext cx="22670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Complexity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300" y="3543300"/>
            <a:ext cx="8267700" cy="1371600"/>
          </a:xfrm>
          <a:prstGeom prst="roundRect">
            <a:avLst>
              <a:gd name="adj" fmla="val 5556"/>
            </a:avLst>
          </a:prstGeom>
          <a:solidFill>
            <a:srgbClr val="E8ED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3900" y="3810000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Award-Winning Product Leadership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3900" y="4191000"/>
            <a:ext cx="7966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Design Award Gold • iF Design Award • Red Dot Award • CES Innovation Award • Good Design Award • Cannes Lion Bronze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634454"/>
            <a:ext cx="4478845" cy="3810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0" y="1047750"/>
            <a:ext cx="114300" cy="361950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238" y="1472654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85085" y="1592610"/>
            <a:ext cx="1729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75774" y="2291804"/>
            <a:ext cx="19916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774" y="2653754"/>
            <a:ext cx="1991677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into current state, processes, portfolio, and opportunities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43263" y="1472654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90110" y="1592610"/>
            <a:ext cx="1729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80799" y="2291804"/>
            <a:ext cx="19916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80799" y="2653754"/>
            <a:ext cx="199167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tailored operating model, team structure, and roadmap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48288" y="1472654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95135" y="1592610"/>
            <a:ext cx="1729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85824" y="2291804"/>
            <a:ext cx="19916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85824" y="2653754"/>
            <a:ext cx="199167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talent, establish processes, run pilot projects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3312" y="1472654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00160" y="1592610"/>
            <a:ext cx="1729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90849" y="2291804"/>
            <a:ext cx="19916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90849" y="2653754"/>
            <a:ext cx="199167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off to internal leadership with sustainable systems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5300" y="3594646"/>
            <a:ext cx="8267700" cy="1104900"/>
          </a:xfrm>
          <a:prstGeom prst="roundRect">
            <a:avLst>
              <a:gd name="adj" fmla="val 689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3900" y="3861346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methodology for building capabilities that deliver results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3900" y="4204246"/>
            <a:ext cx="796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vision combined with hands-on execution — not just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556320"/>
            <a:ext cx="5489258" cy="3810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Oral-B iO Platform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0" y="1047750"/>
            <a:ext cx="114300" cy="36195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318320"/>
            <a:ext cx="8267700" cy="1040011"/>
          </a:xfrm>
          <a:prstGeom prst="roundRect">
            <a:avLst>
              <a:gd name="adj" fmla="val 7327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546920"/>
            <a:ext cx="80444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927920"/>
            <a:ext cx="80444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Re-platform P&amp;G's Oral Care with first-ever IoT-connected toothbrush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5300" y="2529780"/>
            <a:ext cx="4048125" cy="1504950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6750" y="2739330"/>
            <a:ext cx="3779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6750" y="3101280"/>
            <a:ext cx="37052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6750" y="3101280"/>
            <a:ext cx="3779329" cy="190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•Led design strategy and vision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6750" y="3367980"/>
            <a:ext cx="3779329" cy="190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•Built digital design team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6750" y="3634680"/>
            <a:ext cx="3779329" cy="190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•Managed innovation delivery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14875" y="2529780"/>
            <a:ext cx="4048125" cy="1504950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86325" y="2739330"/>
            <a:ext cx="3779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86325" y="3101280"/>
            <a:ext cx="37052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86325" y="3101280"/>
            <a:ext cx="3779329" cy="190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•$100M+ revenue platform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86325" y="3367980"/>
            <a:ext cx="3779329" cy="190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•German Design Award Gold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86325" y="3634680"/>
            <a:ext cx="3779329" cy="190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•iF, Red Dot, CES awards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5300" y="4206180"/>
            <a:ext cx="8267700" cy="571500"/>
          </a:xfrm>
          <a:prstGeom prst="roundRect">
            <a:avLst>
              <a:gd name="adj" fmla="val 13333"/>
            </a:avLst>
          </a:prstGeom>
          <a:solidFill>
            <a:srgbClr val="E8ED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700" y="4358580"/>
            <a:ext cx="8122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Transformational capability building for companies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695325"/>
            <a:ext cx="4692587" cy="381000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Different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0" y="1047750"/>
            <a:ext cx="114300" cy="342900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457325"/>
            <a:ext cx="8267700" cy="1143000"/>
          </a:xfrm>
          <a:prstGeom prst="roundRect">
            <a:avLst>
              <a:gd name="adj" fmla="val 6667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900" y="1685925"/>
            <a:ext cx="79667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consultants tell you what to do.</a:t>
            </a:r>
            <a:endParaRPr lang="en-US" sz="225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I've actually built it.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95300" y="2790825"/>
            <a:ext cx="2667000" cy="85725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2981325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Scratch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7700" y="3305175"/>
            <a:ext cx="24094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P&amp;G Digital Design Capability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5650" y="2790825"/>
            <a:ext cx="2667000" cy="85725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48050" y="2981325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Leadership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48050" y="3305175"/>
            <a:ext cx="24094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teams, 3 continents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6000" y="2790825"/>
            <a:ext cx="2667000" cy="85725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48400" y="2981325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+ Hands-On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48400" y="3305175"/>
            <a:ext cx="24094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C-suite vision, execution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300" y="3781425"/>
            <a:ext cx="2667000" cy="85725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7700" y="3971925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Results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7700" y="4295775"/>
            <a:ext cx="24094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 impact, awards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5650" y="3781425"/>
            <a:ext cx="2667000" cy="85725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48050" y="3971925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48050" y="4295775"/>
            <a:ext cx="24094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C-suite facilitation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6000" y="3781425"/>
            <a:ext cx="2667000" cy="85725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48400" y="3971925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Development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48400" y="4295775"/>
            <a:ext cx="24094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Recruit, develop, retain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9952" y="408682"/>
            <a:ext cx="5484096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Bef>
                <a:spcPts val="300"/>
              </a:spcBef>
              <a:spcAft>
                <a:spcPts val="21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Build</a:t>
            </a:r>
            <a:endParaRPr lang="en-US" sz="3600" dirty="0"/>
          </a:p>
          <a:p>
            <a:pPr marL="0" indent="0" algn="ctr">
              <a:lnSpc>
                <a:spcPts val="4320"/>
              </a:lnSpc>
              <a:spcBef>
                <a:spcPts val="300"/>
              </a:spcBef>
              <a:spcAft>
                <a:spcPts val="21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World-Class Innovation?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9952" y="1772543"/>
            <a:ext cx="5484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27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how I can help your company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000500" y="2382143"/>
            <a:ext cx="1143000" cy="28575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83718" y="2753618"/>
            <a:ext cx="5376565" cy="2019300"/>
          </a:xfrm>
          <a:prstGeom prst="roundRect">
            <a:avLst>
              <a:gd name="adj" fmla="val 5660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01986" y="3058418"/>
            <a:ext cx="49400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PJ Mason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101986" y="3553718"/>
            <a:ext cx="4940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pjmason1220@gmail.com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01986" y="3877568"/>
            <a:ext cx="4940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513-282-8775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01986" y="4277618"/>
            <a:ext cx="4940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Lebanon, Ohio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548</Words>
  <Application>Microsoft Macintosh PowerPoint</Application>
  <PresentationFormat>On-screen Show (16:9)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Capability Consulting</dc:title>
  <dc:subject>Building World-Class Design &amp; Innovation Teams</dc:subject>
  <dc:creator>PJ Mason</dc:creator>
  <cp:lastModifiedBy>Peter Mason</cp:lastModifiedBy>
  <cp:revision>2</cp:revision>
  <dcterms:created xsi:type="dcterms:W3CDTF">2025-11-24T21:22:50Z</dcterms:created>
  <dcterms:modified xsi:type="dcterms:W3CDTF">2025-11-25T00:58:37Z</dcterms:modified>
</cp:coreProperties>
</file>